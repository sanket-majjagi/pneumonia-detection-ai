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6666"/>
                </a:solidFill>
              </a:defRPr>
            </a:pPr>
            <a:r>
              <a:t>Pneumonia Detection Using Deep Learning (MobileNetV2)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Mini Project Phase-1 Presentation</a:t>
            </a:r>
            <a:br/>
            <a:r>
              <a:t>Presented by: Sanket B. Majjagi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99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E3C5A"/>
                </a:solidFill>
              </a:defRPr>
            </a:pPr>
            <a:r>
              <a:t>Pneumonia is a lung infection that can be life-threatening if not diagnosed early.</a:t>
            </a:r>
          </a:p>
          <a:p>
            <a:pPr>
              <a:defRPr sz="2000">
                <a:solidFill>
                  <a:srgbClr val="1E3C5A"/>
                </a:solidFill>
              </a:defRPr>
            </a:pPr>
            <a:r>
              <a:t>Chest X-rays are used for detection but manual interpretation is slow and subjective.</a:t>
            </a:r>
          </a:p>
          <a:p>
            <a:pPr>
              <a:defRPr sz="2000">
                <a:solidFill>
                  <a:srgbClr val="1E3C5A"/>
                </a:solidFill>
              </a:defRPr>
            </a:pPr>
            <a:r>
              <a:t>Deep learning automates detection and increases diagnostic accuracy.</a:t>
            </a:r>
          </a:p>
          <a:p>
            <a:pPr>
              <a:defRPr sz="2000">
                <a:solidFill>
                  <a:srgbClr val="1E3C5A"/>
                </a:solidFill>
              </a:defRPr>
            </a:pPr>
            <a:r>
              <a:t>MobileNetV2 is used for efficient real-time pneumonia detection.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99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Literature Survey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E3C5A"/>
                </a:solidFill>
              </a:defRPr>
            </a:pPr>
            <a:r>
              <a:t>2018 – Paul Mooney (Kaggle Dataset): CNN achieved 84–87% accuracy.</a:t>
            </a:r>
          </a:p>
          <a:p>
            <a:pPr>
              <a:defRPr sz="2000">
                <a:solidFill>
                  <a:srgbClr val="1E3C5A"/>
                </a:solidFill>
              </a:defRPr>
            </a:pPr>
            <a:r>
              <a:t>2019 – Rajpurkar et al. (CheXNet): DenseNet121 achieved radiologist-level accuracy.</a:t>
            </a:r>
          </a:p>
          <a:p>
            <a:pPr>
              <a:defRPr sz="2000">
                <a:solidFill>
                  <a:srgbClr val="1E3C5A"/>
                </a:solidFill>
              </a:defRPr>
            </a:pPr>
            <a:r>
              <a:t>2020 – Kermany et al.: CNN model achieved around 90% accuracy.</a:t>
            </a:r>
          </a:p>
          <a:p>
            <a:pPr>
              <a:defRPr sz="2000">
                <a:solidFill>
                  <a:srgbClr val="1E3C5A"/>
                </a:solidFill>
              </a:defRPr>
            </a:pPr>
            <a:r>
              <a:t>2023 – MobileNetV2 model reached 86–88% accuracy with lightweight design.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99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Existing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E3C5A"/>
                </a:solidFill>
              </a:defRPr>
            </a:pPr>
            <a:r>
              <a:t>Manual analysis by radiologists is accurate but time-consuming.</a:t>
            </a:r>
          </a:p>
          <a:p>
            <a:pPr>
              <a:defRPr sz="2000">
                <a:solidFill>
                  <a:srgbClr val="1E3C5A"/>
                </a:solidFill>
              </a:defRPr>
            </a:pPr>
            <a:r>
              <a:t>Traditional CNNs (like VGG16, ResNet) require high computational power.</a:t>
            </a:r>
          </a:p>
          <a:p>
            <a:pPr>
              <a:defRPr sz="2000">
                <a:solidFill>
                  <a:srgbClr val="1E3C5A"/>
                </a:solidFill>
              </a:defRPr>
            </a:pPr>
            <a:r>
              <a:t>Limited adaptability for low-resource clinical environments.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99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Proposed System /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E3C5A"/>
                </a:solidFill>
              </a:defRPr>
            </a:pPr>
            <a:r>
              <a:t>Model: MobileNetV2 transfer learning approach for lightweight classification.</a:t>
            </a:r>
          </a:p>
          <a:p>
            <a:pPr>
              <a:defRPr sz="2000">
                <a:solidFill>
                  <a:srgbClr val="1E3C5A"/>
                </a:solidFill>
              </a:defRPr>
            </a:pPr>
            <a:r>
              <a:t>Dataset: Kaggle Chest X-Ray dataset (Normal/Pneumonia).</a:t>
            </a:r>
          </a:p>
          <a:p>
            <a:pPr>
              <a:defRPr sz="2000">
                <a:solidFill>
                  <a:srgbClr val="1E3C5A"/>
                </a:solidFill>
              </a:defRPr>
            </a:pPr>
            <a:r>
              <a:t>Dataset split: 80% training, 10% validation, 10% testing.</a:t>
            </a:r>
          </a:p>
          <a:p>
            <a:pPr>
              <a:defRPr sz="2000">
                <a:solidFill>
                  <a:srgbClr val="1E3C5A"/>
                </a:solidFill>
              </a:defRPr>
            </a:pPr>
            <a:r>
              <a:t>Training includes class weighting to balance dataset and reduce bias.</a:t>
            </a:r>
          </a:p>
          <a:p>
            <a:pPr>
              <a:defRPr sz="2000">
                <a:solidFill>
                  <a:srgbClr val="1E3C5A"/>
                </a:solidFill>
              </a:defRPr>
            </a:pPr>
            <a:r>
              <a:t>A Tkinter-based GUI for real-time pneumonia detection from images.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99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Expected 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E3C5A"/>
                </a:solidFill>
              </a:defRPr>
            </a:pPr>
            <a:r>
              <a:t>Accurate classification between NORMAL and PNEUMONIA chest X-rays.</a:t>
            </a:r>
          </a:p>
          <a:p>
            <a:pPr>
              <a:defRPr sz="2000">
                <a:solidFill>
                  <a:srgbClr val="1E3C5A"/>
                </a:solidFill>
              </a:defRPr>
            </a:pPr>
            <a:r>
              <a:t>Achieved accuracy: 85–88% on test data.</a:t>
            </a:r>
          </a:p>
          <a:p>
            <a:pPr>
              <a:defRPr sz="2000">
                <a:solidFill>
                  <a:srgbClr val="1E3C5A"/>
                </a:solidFill>
              </a:defRPr>
            </a:pPr>
            <a:r>
              <a:t>Lightweight, fast, and efficient model for clinical support.</a:t>
            </a:r>
          </a:p>
          <a:p>
            <a:pPr>
              <a:defRPr sz="2000">
                <a:solidFill>
                  <a:srgbClr val="1E3C5A"/>
                </a:solidFill>
              </a:defRPr>
            </a:pPr>
            <a:r>
              <a:t>Interactive GUI for non-technical users.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99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Road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E3C5A"/>
                </a:solidFill>
              </a:defRPr>
            </a:pPr>
            <a:r>
              <a:t>Phase 1 – Literature review and dataset setup ✔️</a:t>
            </a:r>
          </a:p>
          <a:p>
            <a:pPr>
              <a:defRPr sz="2000">
                <a:solidFill>
                  <a:srgbClr val="1E3C5A"/>
                </a:solidFill>
              </a:defRPr>
            </a:pPr>
            <a:r>
              <a:t>Phase 2 – Model training and GUI development ✔️</a:t>
            </a:r>
          </a:p>
          <a:p>
            <a:pPr>
              <a:defRPr sz="2000">
                <a:solidFill>
                  <a:srgbClr val="1E3C5A"/>
                </a:solidFill>
              </a:defRPr>
            </a:pPr>
            <a:r>
              <a:t>Phase 3 – Final testing and optimization 🔄</a:t>
            </a:r>
          </a:p>
          <a:p>
            <a:pPr>
              <a:defRPr sz="2000">
                <a:solidFill>
                  <a:srgbClr val="1E3C5A"/>
                </a:solidFill>
              </a:defRPr>
            </a:pPr>
            <a:r>
              <a:t>Phase 4 – Report submission and project demonstration 🎯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99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E3C5A"/>
                </a:solidFill>
              </a:defRPr>
            </a:pPr>
            <a:r>
              <a:t>The project demonstrates the use of MobileNetV2 for pneumonia detection.</a:t>
            </a:r>
          </a:p>
          <a:p>
            <a:pPr>
              <a:defRPr sz="2000">
                <a:solidFill>
                  <a:srgbClr val="1E3C5A"/>
                </a:solidFill>
              </a:defRPr>
            </a:pPr>
            <a:r>
              <a:t>Achieves high accuracy with reduced computational cost.</a:t>
            </a:r>
          </a:p>
          <a:p>
            <a:pPr>
              <a:defRPr sz="2000">
                <a:solidFill>
                  <a:srgbClr val="1E3C5A"/>
                </a:solidFill>
              </a:defRPr>
            </a:pPr>
            <a:r>
              <a:t>The GUI improves usability and accessibility for medical practitioners.</a:t>
            </a:r>
          </a:p>
          <a:p>
            <a:pPr>
              <a:defRPr sz="2000">
                <a:solidFill>
                  <a:srgbClr val="1E3C5A"/>
                </a:solidFill>
              </a:defRPr>
            </a:pPr>
            <a:r>
              <a:t>Future work: Multi-disease detection (e.g., TB, COVID-19).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99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E3C5A"/>
                </a:solidFill>
              </a:defRPr>
            </a:pPr>
            <a:r>
              <a:t>Paul Mooney, Chest X-Ray Images (Pneumonia) – Kaggle Dataset.</a:t>
            </a:r>
          </a:p>
          <a:p>
            <a:pPr>
              <a:defRPr sz="2000">
                <a:solidFill>
                  <a:srgbClr val="1E3C5A"/>
                </a:solidFill>
              </a:defRPr>
            </a:pPr>
            <a:r>
              <a:t>Rajpurkar P. et al., CheXNet: Radiologist-Level Pneumonia Detection, 2017.</a:t>
            </a:r>
          </a:p>
          <a:p>
            <a:pPr>
              <a:defRPr sz="2000">
                <a:solidFill>
                  <a:srgbClr val="1E3C5A"/>
                </a:solidFill>
              </a:defRPr>
            </a:pPr>
            <a:r>
              <a:t>Kermany D. et al., Image-Based Deep Learning, Cell, 2018.</a:t>
            </a:r>
          </a:p>
          <a:p>
            <a:pPr>
              <a:defRPr sz="2000">
                <a:solidFill>
                  <a:srgbClr val="1E3C5A"/>
                </a:solidFill>
              </a:defRPr>
            </a:pPr>
            <a:r>
              <a:t>TensorFlow and Keras Documentation.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99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Demo &amp; How to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E3C5A"/>
                </a:solidFill>
              </a:defRPr>
            </a:pPr>
            <a:r>
              <a:t>Step 1: Run 'pneumonia_gui.py' in VS Code.</a:t>
            </a:r>
          </a:p>
          <a:p>
            <a:pPr>
              <a:defRPr sz="2000">
                <a:solidFill>
                  <a:srgbClr val="1E3C5A"/>
                </a:solidFill>
              </a:defRPr>
            </a:pPr>
            <a:r>
              <a:t>Step 2: Click 'Select Chest X-ray Image' to upload an image.</a:t>
            </a:r>
          </a:p>
          <a:p>
            <a:pPr>
              <a:defRPr sz="2000">
                <a:solidFill>
                  <a:srgbClr val="1E3C5A"/>
                </a:solidFill>
              </a:defRPr>
            </a:pPr>
            <a:r>
              <a:t>Step 3: View prediction — NORMAL ✅ or PNEUMONIA ⚠️ with likelihood.</a:t>
            </a:r>
          </a:p>
          <a:p>
            <a:pPr>
              <a:defRPr sz="2000">
                <a:solidFill>
                  <a:srgbClr val="1E3C5A"/>
                </a:solidFill>
              </a:defRPr>
            </a:pPr>
            <a:r>
              <a:t>Add GUI screenshot on this slide before submission.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99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E3C5A"/>
                </a:solidFill>
              </a:defRPr>
            </a:pPr>
            <a:r>
              <a:t>Presented by: Sanket B. Majjagi</a:t>
            </a:r>
          </a:p>
          <a:p>
            <a:pPr>
              <a:defRPr sz="2000">
                <a:solidFill>
                  <a:srgbClr val="1E3C5A"/>
                </a:solidFill>
              </a:defRPr>
            </a:pPr>
            <a:r>
              <a:t>Pneumonia Detection Using Deep Learning (MobileNetV2)</a:t>
            </a:r>
          </a:p>
          <a:p>
            <a:pPr>
              <a:defRPr sz="2000">
                <a:solidFill>
                  <a:srgbClr val="1E3C5A"/>
                </a:solidFill>
              </a:defRPr>
            </a:pPr>
            <a:r>
              <a:t>Thank you for your attention!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